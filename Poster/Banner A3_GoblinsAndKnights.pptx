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sldIdLst>
    <p:sldId id="256" r:id="rId2"/>
  </p:sldIdLst>
  <p:sldSz cx="32404050" cy="43205400"/>
  <p:notesSz cx="6858000" cy="9144000"/>
  <p:defaultTextStyle>
    <a:defPPr lvl="0">
      <a:defRPr lang="pt-BR"/>
    </a:defPPr>
    <a:lvl1pPr marL="0" lvl="0" algn="l" defTabSz="4320540" rtl="0" eaLnBrk="1" latinLnBrk="0" hangingPunct="1">
      <a:defRPr sz="8500" kern="1200">
        <a:solidFill>
          <a:schemeClr val="tx1"/>
        </a:solidFill>
        <a:latin typeface="+mn-lt"/>
        <a:ea typeface="+mn-ea"/>
        <a:cs typeface="+mn-cs"/>
      </a:defRPr>
    </a:lvl1pPr>
    <a:lvl2pPr marL="2160270" lvl="1" algn="l" defTabSz="4320540" rtl="0" eaLnBrk="1" latinLnBrk="0" hangingPunct="1">
      <a:defRPr sz="8500" kern="1200">
        <a:solidFill>
          <a:schemeClr val="tx1"/>
        </a:solidFill>
        <a:latin typeface="+mn-lt"/>
        <a:ea typeface="+mn-ea"/>
        <a:cs typeface="+mn-cs"/>
      </a:defRPr>
    </a:lvl2pPr>
    <a:lvl3pPr marL="4320540" lvl="2" algn="l" defTabSz="4320540" rtl="0" eaLnBrk="1" latinLnBrk="0" hangingPunct="1">
      <a:defRPr sz="8500" kern="1200">
        <a:solidFill>
          <a:schemeClr val="tx1"/>
        </a:solidFill>
        <a:latin typeface="+mn-lt"/>
        <a:ea typeface="+mn-ea"/>
        <a:cs typeface="+mn-cs"/>
      </a:defRPr>
    </a:lvl3pPr>
    <a:lvl4pPr marL="6480810" lvl="3" algn="l" defTabSz="4320540" rtl="0" eaLnBrk="1" latinLnBrk="0" hangingPunct="1">
      <a:defRPr sz="8500" kern="1200">
        <a:solidFill>
          <a:schemeClr val="tx1"/>
        </a:solidFill>
        <a:latin typeface="+mn-lt"/>
        <a:ea typeface="+mn-ea"/>
        <a:cs typeface="+mn-cs"/>
      </a:defRPr>
    </a:lvl4pPr>
    <a:lvl5pPr marL="8641080" lvl="4" algn="l" defTabSz="4320540" rtl="0" eaLnBrk="1" latinLnBrk="0" hangingPunct="1">
      <a:defRPr sz="8500" kern="1200">
        <a:solidFill>
          <a:schemeClr val="tx1"/>
        </a:solidFill>
        <a:latin typeface="+mn-lt"/>
        <a:ea typeface="+mn-ea"/>
        <a:cs typeface="+mn-cs"/>
      </a:defRPr>
    </a:lvl5pPr>
    <a:lvl6pPr marL="10801350" lvl="5" algn="l" defTabSz="4320540" rtl="0" eaLnBrk="1" latinLnBrk="0" hangingPunct="1">
      <a:defRPr sz="8500" kern="1200">
        <a:solidFill>
          <a:schemeClr val="tx1"/>
        </a:solidFill>
        <a:latin typeface="+mn-lt"/>
        <a:ea typeface="+mn-ea"/>
        <a:cs typeface="+mn-cs"/>
      </a:defRPr>
    </a:lvl6pPr>
    <a:lvl7pPr marL="12961620" lvl="6" algn="l" defTabSz="4320540" rtl="0" eaLnBrk="1" latinLnBrk="0" hangingPunct="1">
      <a:defRPr sz="8500" kern="1200">
        <a:solidFill>
          <a:schemeClr val="tx1"/>
        </a:solidFill>
        <a:latin typeface="+mn-lt"/>
        <a:ea typeface="+mn-ea"/>
        <a:cs typeface="+mn-cs"/>
      </a:defRPr>
    </a:lvl7pPr>
    <a:lvl8pPr marL="15121890" lvl="7" algn="l" defTabSz="4320540" rtl="0" eaLnBrk="1" latinLnBrk="0" hangingPunct="1">
      <a:defRPr sz="8500" kern="1200">
        <a:solidFill>
          <a:schemeClr val="tx1"/>
        </a:solidFill>
        <a:latin typeface="+mn-lt"/>
        <a:ea typeface="+mn-ea"/>
        <a:cs typeface="+mn-cs"/>
      </a:defRPr>
    </a:lvl8pPr>
    <a:lvl9pPr marL="17282160" lvl="8" algn="l" defTabSz="4320540" rtl="0" eaLnBrk="1" latinLnBrk="0" hangingPunct="1">
      <a:defRPr sz="85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608">
          <p15:clr>
            <a:srgbClr val="A4A3A4"/>
          </p15:clr>
        </p15:guide>
        <p15:guide id="2" pos="1020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651C3A-4460-11DB-9652-00E08161165F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25" d="100"/>
          <a:sy n="25" d="100"/>
        </p:scale>
        <p:origin x="1200" y="-3494"/>
      </p:cViewPr>
      <p:guideLst>
        <p:guide orient="horz" pos="13608"/>
        <p:guide pos="1020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430304" y="13421680"/>
            <a:ext cx="27543443" cy="9261158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4860608" y="24483060"/>
            <a:ext cx="22682835" cy="1104138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1602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43205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64808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86410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08013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29616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51218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72821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088D9-6F99-4774-8F18-D88D64460132}" type="datetimeFigureOut">
              <a:rPr lang="pt-BR" smtClean="0"/>
              <a:pPr/>
              <a:t>20/11/2025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A5AF6-92C6-4656-8B3D-FE2340DD8210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  <a:alpha val="2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1620203" y="1730219"/>
            <a:ext cx="29163645" cy="7200900"/>
          </a:xfrm>
          <a:prstGeom prst="rect">
            <a:avLst/>
          </a:prstGeom>
        </p:spPr>
        <p:txBody>
          <a:bodyPr vert="horz" lIns="432054" tIns="216027" rIns="432054" bIns="216027" rtlCol="0" anchor="ctr">
            <a:normAutofit/>
          </a:bodyPr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620203" y="10081263"/>
            <a:ext cx="29163645" cy="28513567"/>
          </a:xfrm>
          <a:prstGeom prst="rect">
            <a:avLst/>
          </a:prstGeom>
        </p:spPr>
        <p:txBody>
          <a:bodyPr vert="horz" lIns="432054" tIns="216027" rIns="432054" bIns="216027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1620203" y="40045008"/>
            <a:ext cx="7560945" cy="2300288"/>
          </a:xfrm>
          <a:prstGeom prst="rect">
            <a:avLst/>
          </a:prstGeom>
        </p:spPr>
        <p:txBody>
          <a:bodyPr vert="horz" lIns="432054" tIns="216027" rIns="432054" bIns="216027" rtlCol="0" anchor="ctr"/>
          <a:lstStyle>
            <a:lvl1pPr algn="l">
              <a:defRPr sz="5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4088D9-6F99-4774-8F18-D88D64460132}" type="datetimeFigureOut">
              <a:rPr lang="pt-BR" smtClean="0"/>
              <a:pPr/>
              <a:t>20/11/2025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11071384" y="40045008"/>
            <a:ext cx="10261283" cy="2300288"/>
          </a:xfrm>
          <a:prstGeom prst="rect">
            <a:avLst/>
          </a:prstGeom>
        </p:spPr>
        <p:txBody>
          <a:bodyPr vert="horz" lIns="432054" tIns="216027" rIns="432054" bIns="216027" rtlCol="0" anchor="ctr"/>
          <a:lstStyle>
            <a:lvl1pPr algn="ctr">
              <a:defRPr sz="5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23222903" y="40045008"/>
            <a:ext cx="7560945" cy="2300288"/>
          </a:xfrm>
          <a:prstGeom prst="rect">
            <a:avLst/>
          </a:prstGeom>
        </p:spPr>
        <p:txBody>
          <a:bodyPr vert="horz" lIns="432054" tIns="216027" rIns="432054" bIns="216027" rtlCol="0" anchor="ctr"/>
          <a:lstStyle>
            <a:lvl1pPr algn="r">
              <a:defRPr sz="5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3A5AF6-92C6-4656-8B3D-FE2340DD8210}" type="slidenum">
              <a:rPr lang="pt-BR" smtClean="0"/>
              <a:pPr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defTabSz="4320540" rtl="0" eaLnBrk="1" latinLnBrk="0" hangingPunct="1">
        <a:spcBef>
          <a:spcPct val="0"/>
        </a:spcBef>
        <a:buNone/>
        <a:defRPr sz="20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20203" indent="-1620203" algn="l" defTabSz="4320540" rtl="0" eaLnBrk="1" latinLnBrk="0" hangingPunct="1">
        <a:spcBef>
          <a:spcPct val="20000"/>
        </a:spcBef>
        <a:buFont typeface="Arial" pitchFamily="34" charset="0"/>
        <a:buChar char="•"/>
        <a:defRPr sz="15100" kern="1200">
          <a:solidFill>
            <a:schemeClr val="tx1"/>
          </a:solidFill>
          <a:latin typeface="+mn-lt"/>
          <a:ea typeface="+mn-ea"/>
          <a:cs typeface="+mn-cs"/>
        </a:defRPr>
      </a:lvl1pPr>
      <a:lvl2pPr marL="3510439" indent="-1350169" algn="l" defTabSz="4320540" rtl="0" eaLnBrk="1" latinLnBrk="0" hangingPunct="1">
        <a:spcBef>
          <a:spcPct val="20000"/>
        </a:spcBef>
        <a:buFont typeface="Arial" pitchFamily="34" charset="0"/>
        <a:buChar char="–"/>
        <a:defRPr sz="13200" kern="1200">
          <a:solidFill>
            <a:schemeClr val="tx1"/>
          </a:solidFill>
          <a:latin typeface="+mn-lt"/>
          <a:ea typeface="+mn-ea"/>
          <a:cs typeface="+mn-cs"/>
        </a:defRPr>
      </a:lvl2pPr>
      <a:lvl3pPr marL="5400675" indent="-1080135" algn="l" defTabSz="4320540" rtl="0" eaLnBrk="1" latinLnBrk="0" hangingPunct="1">
        <a:spcBef>
          <a:spcPct val="20000"/>
        </a:spcBef>
        <a:buFont typeface="Arial" pitchFamily="34" charset="0"/>
        <a:buChar char="•"/>
        <a:defRPr sz="11300" kern="1200">
          <a:solidFill>
            <a:schemeClr val="tx1"/>
          </a:solidFill>
          <a:latin typeface="+mn-lt"/>
          <a:ea typeface="+mn-ea"/>
          <a:cs typeface="+mn-cs"/>
        </a:defRPr>
      </a:lvl3pPr>
      <a:lvl4pPr marL="7560945" indent="-1080135" algn="l" defTabSz="4320540" rtl="0" eaLnBrk="1" latinLnBrk="0" hangingPunct="1">
        <a:spcBef>
          <a:spcPct val="20000"/>
        </a:spcBef>
        <a:buFont typeface="Arial" pitchFamily="34" charset="0"/>
        <a:buChar char="–"/>
        <a:defRPr sz="9500" kern="1200">
          <a:solidFill>
            <a:schemeClr val="tx1"/>
          </a:solidFill>
          <a:latin typeface="+mn-lt"/>
          <a:ea typeface="+mn-ea"/>
          <a:cs typeface="+mn-cs"/>
        </a:defRPr>
      </a:lvl4pPr>
      <a:lvl5pPr marL="9721215" indent="-1080135" algn="l" defTabSz="4320540" rtl="0" eaLnBrk="1" latinLnBrk="0" hangingPunct="1">
        <a:spcBef>
          <a:spcPct val="20000"/>
        </a:spcBef>
        <a:buFont typeface="Arial" pitchFamily="34" charset="0"/>
        <a:buChar char="»"/>
        <a:defRPr sz="9500" kern="1200">
          <a:solidFill>
            <a:schemeClr val="tx1"/>
          </a:solidFill>
          <a:latin typeface="+mn-lt"/>
          <a:ea typeface="+mn-ea"/>
          <a:cs typeface="+mn-cs"/>
        </a:defRPr>
      </a:lvl5pPr>
      <a:lvl6pPr marL="11881485" indent="-1080135" algn="l" defTabSz="4320540" rtl="0" eaLnBrk="1" latinLnBrk="0" hangingPunct="1">
        <a:spcBef>
          <a:spcPct val="20000"/>
        </a:spcBef>
        <a:buFont typeface="Arial" pitchFamily="34" charset="0"/>
        <a:buChar char="•"/>
        <a:defRPr sz="9500" kern="1200">
          <a:solidFill>
            <a:schemeClr val="tx1"/>
          </a:solidFill>
          <a:latin typeface="+mn-lt"/>
          <a:ea typeface="+mn-ea"/>
          <a:cs typeface="+mn-cs"/>
        </a:defRPr>
      </a:lvl6pPr>
      <a:lvl7pPr marL="14041755" indent="-1080135" algn="l" defTabSz="4320540" rtl="0" eaLnBrk="1" latinLnBrk="0" hangingPunct="1">
        <a:spcBef>
          <a:spcPct val="20000"/>
        </a:spcBef>
        <a:buFont typeface="Arial" pitchFamily="34" charset="0"/>
        <a:buChar char="•"/>
        <a:defRPr sz="9500" kern="1200">
          <a:solidFill>
            <a:schemeClr val="tx1"/>
          </a:solidFill>
          <a:latin typeface="+mn-lt"/>
          <a:ea typeface="+mn-ea"/>
          <a:cs typeface="+mn-cs"/>
        </a:defRPr>
      </a:lvl7pPr>
      <a:lvl8pPr marL="16202025" indent="-1080135" algn="l" defTabSz="4320540" rtl="0" eaLnBrk="1" latinLnBrk="0" hangingPunct="1">
        <a:spcBef>
          <a:spcPct val="20000"/>
        </a:spcBef>
        <a:buFont typeface="Arial" pitchFamily="34" charset="0"/>
        <a:buChar char="•"/>
        <a:defRPr sz="9500" kern="1200">
          <a:solidFill>
            <a:schemeClr val="tx1"/>
          </a:solidFill>
          <a:latin typeface="+mn-lt"/>
          <a:ea typeface="+mn-ea"/>
          <a:cs typeface="+mn-cs"/>
        </a:defRPr>
      </a:lvl8pPr>
      <a:lvl9pPr marL="18362295" indent="-1080135" algn="l" defTabSz="4320540" rtl="0" eaLnBrk="1" latinLnBrk="0" hangingPunct="1">
        <a:spcBef>
          <a:spcPct val="20000"/>
        </a:spcBef>
        <a:buFont typeface="Arial" pitchFamily="34" charset="0"/>
        <a:buChar char="•"/>
        <a:defRPr sz="9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4320540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1pPr>
      <a:lvl2pPr marL="2160270" algn="l" defTabSz="4320540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2pPr>
      <a:lvl3pPr marL="4320540" algn="l" defTabSz="4320540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3pPr>
      <a:lvl4pPr marL="6480810" algn="l" defTabSz="4320540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4pPr>
      <a:lvl5pPr marL="8641080" algn="l" defTabSz="4320540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5pPr>
      <a:lvl6pPr marL="10801350" algn="l" defTabSz="4320540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6pPr>
      <a:lvl7pPr marL="12961620" algn="l" defTabSz="4320540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7pPr>
      <a:lvl8pPr marL="15121890" algn="l" defTabSz="4320540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8pPr>
      <a:lvl9pPr marL="17282160" algn="l" defTabSz="4320540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  <a:alpha val="2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/>
          <p:cNvSpPr/>
          <p:nvPr/>
        </p:nvSpPr>
        <p:spPr>
          <a:xfrm>
            <a:off x="0" y="-288332"/>
            <a:ext cx="32412863" cy="43205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861806" y="4176148"/>
            <a:ext cx="30749932" cy="5790796"/>
          </a:xfrm>
        </p:spPr>
        <p:txBody>
          <a:bodyPr>
            <a:normAutofit/>
          </a:bodyPr>
          <a:lstStyle/>
          <a:p>
            <a:pPr hangingPunct="0"/>
            <a:r>
              <a:rPr lang="pt-BR" sz="5400" b="1" dirty="0"/>
              <a:t>IMPLEMENTAÇÃO DE IA EM JOGOS</a:t>
            </a:r>
            <a:br>
              <a:rPr lang="pt-BR" sz="5400" b="1" dirty="0"/>
            </a:br>
            <a:br>
              <a:rPr lang="pt-BR" sz="5400" dirty="0"/>
            </a:br>
            <a:r>
              <a:rPr lang="pt-BR" sz="4400" b="1" dirty="0"/>
              <a:t>Helder de Sena Ferreira Meyer; Mateus Maia Ferreira; Pedro Vitor Cordeiro Pompeu; Ruan Diego de Farias Couto da Silva; Adailton de Jesus Cerqueira Junior.</a:t>
            </a:r>
            <a:br>
              <a:rPr lang="pt-BR" sz="4400" b="1" dirty="0"/>
            </a:br>
            <a:br>
              <a:rPr lang="pt-BR" sz="4400" b="1" dirty="0"/>
            </a:br>
            <a:r>
              <a:rPr lang="pt-BR" sz="4400" dirty="0"/>
              <a:t>Universidade Salvador – Salvador – BA – Brasil</a:t>
            </a:r>
            <a:br>
              <a:rPr lang="pt-BR" sz="9600" dirty="0"/>
            </a:br>
            <a:endParaRPr lang="pt-BR" sz="4400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696254" y="11970852"/>
            <a:ext cx="14785564" cy="25956340"/>
          </a:xfrm>
          <a:ln>
            <a:noFill/>
          </a:ln>
        </p:spPr>
        <p:txBody>
          <a:bodyPr vert="horz" lIns="432054" tIns="216027" rIns="432054" bIns="216027" rtlCol="0" anchor="t">
            <a:noAutofit/>
          </a:bodyPr>
          <a:lstStyle/>
          <a:p>
            <a:pPr algn="just">
              <a:spcBef>
                <a:spcPts val="0"/>
              </a:spcBef>
            </a:pPr>
            <a:r>
              <a:rPr lang="pt-BR" sz="6600" b="1" dirty="0">
                <a:solidFill>
                  <a:schemeClr val="tx1"/>
                </a:solidFill>
              </a:rPr>
              <a:t>INTRODUÇÃO</a:t>
            </a:r>
            <a:endParaRPr lang="pt-BR" sz="7500" b="1" dirty="0">
              <a:solidFill>
                <a:schemeClr val="tx1"/>
              </a:solidFill>
            </a:endParaRPr>
          </a:p>
          <a:p>
            <a:pPr algn="just">
              <a:spcBef>
                <a:spcPts val="0"/>
              </a:spcBef>
            </a:pPr>
            <a:r>
              <a:rPr lang="pt-BR" sz="3200" dirty="0">
                <a:solidFill>
                  <a:schemeClr val="tx1"/>
                </a:solidFill>
              </a:rPr>
              <a:t>Este projeto apresenta o desenvolvimento e a implementação do algoritmo de busca A* (A Estrela) em um ambiente 2D, de modo a permitir que um inimigo seja capaz de analisar o cenário, calcular o melhor caminho possível e perseguir o personagem de forma eficiente. Esse algoritmo, amplamente reconhecido por sua capacidade de encontrar rotas ótimas, foi adaptado para que o inimigo reagisse dinamicamente à posição do jogador, navegando pelo mapa enquanto evitava obstáculos e exibindo um comportamento inteligente dentro do jogo.</a:t>
            </a:r>
          </a:p>
          <a:p>
            <a:pPr algn="just">
              <a:spcBef>
                <a:spcPts val="0"/>
              </a:spcBef>
            </a:pPr>
            <a:endParaRPr lang="pt-BR" sz="3200" dirty="0">
              <a:solidFill>
                <a:schemeClr val="tx1"/>
              </a:solidFill>
            </a:endParaRPr>
          </a:p>
          <a:p>
            <a:pPr algn="just">
              <a:spcBef>
                <a:spcPts val="0"/>
              </a:spcBef>
            </a:pPr>
            <a:r>
              <a:rPr lang="pt-BR" sz="6600" b="1" dirty="0">
                <a:solidFill>
                  <a:schemeClr val="tx1"/>
                </a:solidFill>
              </a:rPr>
              <a:t>OBJETIVO</a:t>
            </a:r>
            <a:endParaRPr lang="pt-BR" sz="7500" b="1" dirty="0">
              <a:solidFill>
                <a:schemeClr val="tx1"/>
              </a:solidFill>
            </a:endParaRPr>
          </a:p>
          <a:p>
            <a:pPr algn="just">
              <a:spcBef>
                <a:spcPts val="0"/>
              </a:spcBef>
            </a:pPr>
            <a:r>
              <a:rPr lang="pt-BR" sz="3200" dirty="0">
                <a:solidFill>
                  <a:schemeClr val="tx1"/>
                </a:solidFill>
              </a:rPr>
              <a:t>O objetivo deste trabalho é implementar inteligência artificial no comportamento de um inimigo dentro do modelo 2d, utilizando o algoritmo A* para o cálculo de caminhos e a navegação pelo cenário de forma a evitar obstáculos e calculando o custo do percurso. Além disso, busca-se avaliar a eficiência desse algoritmo em tempo real no ambiente Godot e, por fim, produzir um protótipo funcional que demonstre a perseguição dinâmica do inimigo ao jogador.</a:t>
            </a:r>
          </a:p>
          <a:p>
            <a:pPr algn="just">
              <a:spcBef>
                <a:spcPts val="0"/>
              </a:spcBef>
            </a:pPr>
            <a:endParaRPr lang="pt-BR" sz="32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just">
              <a:spcBef>
                <a:spcPts val="0"/>
              </a:spcBef>
            </a:pPr>
            <a:r>
              <a:rPr lang="pt-BR" sz="6600" b="1" dirty="0">
                <a:solidFill>
                  <a:schemeClr val="tx1"/>
                </a:solidFill>
              </a:rPr>
              <a:t>MÉTODOS</a:t>
            </a:r>
            <a:endParaRPr lang="pt-BR" sz="7500" b="1" dirty="0">
              <a:solidFill>
                <a:schemeClr val="tx1"/>
              </a:solidFill>
            </a:endParaRPr>
          </a:p>
          <a:p>
            <a:pPr algn="just">
              <a:spcBef>
                <a:spcPts val="0"/>
              </a:spcBef>
            </a:pPr>
            <a:r>
              <a:rPr lang="pt-BR" sz="3200" dirty="0">
                <a:solidFill>
                  <a:schemeClr val="tx1"/>
                </a:solidFill>
              </a:rPr>
              <a:t>O desenvolvimento do jogo foi realizado em Godot 4.5 utilizando </a:t>
            </a:r>
            <a:r>
              <a:rPr lang="pt-BR" sz="3200" dirty="0" err="1">
                <a:solidFill>
                  <a:schemeClr val="tx1"/>
                </a:solidFill>
              </a:rPr>
              <a:t>GDScript</a:t>
            </a:r>
            <a:r>
              <a:rPr lang="pt-BR" sz="3200" dirty="0">
                <a:solidFill>
                  <a:schemeClr val="tx1"/>
                </a:solidFill>
              </a:rPr>
              <a:t> para toda a lógica, com foco na criação de um sistema próprio de navegação baseado em um algoritmo A* totalmente implementado manualmente. Para isso, foi criada a classe personalizada </a:t>
            </a:r>
            <a:r>
              <a:rPr lang="pt-BR" sz="3200" dirty="0" err="1">
                <a:solidFill>
                  <a:schemeClr val="tx1"/>
                </a:solidFill>
              </a:rPr>
              <a:t>AStarGrid</a:t>
            </a:r>
            <a:r>
              <a:rPr lang="pt-BR" sz="3200" dirty="0">
                <a:solidFill>
                  <a:schemeClr val="tx1"/>
                </a:solidFill>
              </a:rPr>
              <a:t>, estruturada sobre uma matriz de células que representa o cenário, permitindo que cada tile seja avaliado quanto ao custo de travessia. O algoritmo utiliza listas Aberta e Fechada para o gerenciamento dos nós durante a busca e emprega a Heurística Manhattan para estimar o custo restante até o objetivo dentro da grade. A movimentação do inimigo é realizada por vetores direcionados aos centros dos tiles, usando diretamente a </a:t>
            </a:r>
            <a:r>
              <a:rPr lang="pt-BR" sz="3200" dirty="0" err="1">
                <a:solidFill>
                  <a:schemeClr val="tx1"/>
                </a:solidFill>
              </a:rPr>
              <a:t>global_position</a:t>
            </a:r>
            <a:r>
              <a:rPr lang="pt-BR" sz="3200" dirty="0">
                <a:solidFill>
                  <a:schemeClr val="tx1"/>
                </a:solidFill>
              </a:rPr>
              <a:t>, garantindo transições claras entre cada ponto do caminho. A cada quadro físico, o inimigo verifica a distância ao jogador e alterna entre os comportamentos de espera, perseguição ou ataque; quando o jogador entra no raio de detecção, o caminho é recalculado pela classe </a:t>
            </a:r>
            <a:r>
              <a:rPr lang="pt-BR" sz="3200" dirty="0" err="1">
                <a:solidFill>
                  <a:schemeClr val="tx1"/>
                </a:solidFill>
              </a:rPr>
              <a:t>AStarGrid</a:t>
            </a:r>
            <a:r>
              <a:rPr lang="pt-BR" sz="3200" dirty="0">
                <a:solidFill>
                  <a:schemeClr val="tx1"/>
                </a:solidFill>
              </a:rPr>
              <a:t>, produzindo uma rota otimizada que leva em conta os obstáculos do mapa. Diversos testes foram conduzidos com diferentes configurações de cenário, distâncias e padrões de movimentação, permitindo ajustar velocidade, suavidade e responsividade da perseguição em tempo real.</a:t>
            </a:r>
          </a:p>
          <a:p>
            <a:pPr algn="just">
              <a:spcBef>
                <a:spcPts val="0"/>
              </a:spcBef>
            </a:pPr>
            <a:endParaRPr lang="pt-BR" sz="2800" dirty="0">
              <a:solidFill>
                <a:schemeClr val="tx1"/>
              </a:solidFill>
            </a:endParaRPr>
          </a:p>
          <a:p>
            <a:pPr algn="just">
              <a:spcBef>
                <a:spcPts val="0"/>
              </a:spcBef>
            </a:pPr>
            <a:r>
              <a:rPr lang="pt-BR" sz="6600" b="1" dirty="0">
                <a:solidFill>
                  <a:schemeClr val="tx1"/>
                </a:solidFill>
              </a:rPr>
              <a:t>RESULTADOS</a:t>
            </a:r>
            <a:endParaRPr lang="pt-BR" sz="7500" b="1" dirty="0">
              <a:solidFill>
                <a:schemeClr val="tx1"/>
              </a:solidFill>
            </a:endParaRPr>
          </a:p>
          <a:p>
            <a:pPr algn="just">
              <a:spcBef>
                <a:spcPts val="0"/>
              </a:spcBef>
            </a:pPr>
            <a:r>
              <a:rPr lang="pt-BR" sz="3200" dirty="0">
                <a:solidFill>
                  <a:schemeClr val="tx1"/>
                </a:solidFill>
              </a:rPr>
              <a:t>O inimigo foi capaz de localizar e perseguir o jogador utilizando exclusivamente a implementação manual do algoritmo A*, calculando rotas de forma eficiente e precisa mesmo em cenários com múltiplos obstáculos. O algoritmo demonstrou inteligência ao optar por rotas geometricamente mais longas para evitar terrenos de alto custo (areia). A formulação do custo utilizada seguiu o modelo clássico do algoritmo, dado por F(n)=G(n)+H(n), em que H(n) corresponde à distância Manhattan ∣𝑑𝑥∣+∣𝑑𝑦∣∣</a:t>
            </a:r>
            <a:r>
              <a:rPr lang="pt-BR" sz="3200" dirty="0" err="1">
                <a:solidFill>
                  <a:schemeClr val="tx1"/>
                </a:solidFill>
              </a:rPr>
              <a:t>dx</a:t>
            </a:r>
            <a:r>
              <a:rPr lang="pt-BR" sz="3200" dirty="0">
                <a:solidFill>
                  <a:schemeClr val="tx1"/>
                </a:solidFill>
              </a:rPr>
              <a:t>∣+∣</a:t>
            </a:r>
            <a:r>
              <a:rPr lang="pt-BR" sz="3200" dirty="0" err="1">
                <a:solidFill>
                  <a:schemeClr val="tx1"/>
                </a:solidFill>
              </a:rPr>
              <a:t>dy</a:t>
            </a:r>
            <a:r>
              <a:rPr lang="pt-BR" sz="3200" dirty="0">
                <a:solidFill>
                  <a:schemeClr val="tx1"/>
                </a:solidFill>
              </a:rPr>
              <a:t>∣ aplicada à grade de navegação. Esses resultados evidenciam a capacidade de integrar técnicas tradicionais de Inteligência Artificial em jogos desenvolvidos com Godot, confirmando a viabilidade e a robustez de um sistema de navegação totalmente construído sem dependência de ferramentas internas da </a:t>
            </a:r>
            <a:r>
              <a:rPr lang="pt-BR" sz="3200" dirty="0" err="1">
                <a:solidFill>
                  <a:schemeClr val="tx1"/>
                </a:solidFill>
              </a:rPr>
              <a:t>engine</a:t>
            </a:r>
            <a:r>
              <a:rPr lang="pt-BR" sz="3200" dirty="0">
                <a:solidFill>
                  <a:schemeClr val="tx1"/>
                </a:solidFill>
              </a:rPr>
              <a:t>.</a:t>
            </a:r>
            <a:endParaRPr lang="pt-BR" sz="2800" dirty="0">
              <a:solidFill>
                <a:schemeClr val="tx1"/>
              </a:solidFill>
            </a:endParaRPr>
          </a:p>
        </p:txBody>
      </p:sp>
      <p:sp>
        <p:nvSpPr>
          <p:cNvPr id="15" name="Subtítulo 2"/>
          <p:cNvSpPr txBox="1">
            <a:spLocks/>
          </p:cNvSpPr>
          <p:nvPr/>
        </p:nvSpPr>
        <p:spPr>
          <a:xfrm>
            <a:off x="16035133" y="12176231"/>
            <a:ext cx="15576604" cy="26853021"/>
          </a:xfrm>
          <a:prstGeom prst="rect">
            <a:avLst/>
          </a:prstGeom>
          <a:noFill/>
          <a:ln>
            <a:noFill/>
          </a:ln>
        </p:spPr>
        <p:txBody>
          <a:bodyPr vert="horz" lIns="432054" tIns="216027" rIns="432054" bIns="216027" rtlCol="0" anchor="t">
            <a:noAutofit/>
          </a:bodyPr>
          <a:lstStyle/>
          <a:p>
            <a:r>
              <a:rPr lang="pt-BR" sz="4400" b="1" dirty="0"/>
              <a:t>Figura 1 – Imagem do modelo com textura</a:t>
            </a:r>
            <a:endParaRPr lang="pt-BR" dirty="0"/>
          </a:p>
          <a:p>
            <a:pPr algn="just">
              <a:spcBef>
                <a:spcPts val="0"/>
              </a:spcBef>
            </a:pPr>
            <a:endParaRPr lang="pt-BR" sz="9600" b="1" dirty="0"/>
          </a:p>
          <a:p>
            <a:pPr algn="just">
              <a:spcBef>
                <a:spcPts val="0"/>
              </a:spcBef>
            </a:pPr>
            <a:endParaRPr lang="pt-BR" sz="9600" b="1" dirty="0"/>
          </a:p>
          <a:p>
            <a:pPr algn="just">
              <a:spcBef>
                <a:spcPts val="0"/>
              </a:spcBef>
            </a:pPr>
            <a:endParaRPr lang="pt-BR" sz="9600" b="1" dirty="0"/>
          </a:p>
          <a:p>
            <a:pPr algn="just">
              <a:spcBef>
                <a:spcPts val="0"/>
              </a:spcBef>
            </a:pPr>
            <a:endParaRPr lang="pt-BR" sz="9600" b="1" dirty="0"/>
          </a:p>
          <a:p>
            <a:pPr algn="just">
              <a:spcBef>
                <a:spcPts val="0"/>
              </a:spcBef>
            </a:pPr>
            <a:endParaRPr lang="pt-BR" sz="9600" b="1" dirty="0"/>
          </a:p>
          <a:p>
            <a:pPr algn="just">
              <a:spcBef>
                <a:spcPts val="0"/>
              </a:spcBef>
            </a:pPr>
            <a:endParaRPr lang="pt-BR" sz="9600" b="1" dirty="0"/>
          </a:p>
          <a:p>
            <a:r>
              <a:rPr lang="pt-BR" sz="4400" b="1" dirty="0"/>
              <a:t>Figura 2 – Imagem do modelo em Grid</a:t>
            </a:r>
            <a:endParaRPr lang="pt-BR" sz="4400" b="1" dirty="0">
              <a:ea typeface="Calibri"/>
              <a:cs typeface="Calibri"/>
            </a:endParaRPr>
          </a:p>
          <a:p>
            <a:pPr algn="just">
              <a:spcBef>
                <a:spcPts val="0"/>
              </a:spcBef>
            </a:pPr>
            <a:endParaRPr lang="pt-BR" sz="9600" b="1" dirty="0"/>
          </a:p>
          <a:p>
            <a:pPr algn="just">
              <a:spcBef>
                <a:spcPts val="0"/>
              </a:spcBef>
            </a:pPr>
            <a:endParaRPr lang="pt-BR" sz="9600" b="1" dirty="0"/>
          </a:p>
          <a:p>
            <a:pPr algn="just">
              <a:spcBef>
                <a:spcPts val="0"/>
              </a:spcBef>
            </a:pPr>
            <a:endParaRPr lang="pt-BR" sz="9600" b="1" dirty="0"/>
          </a:p>
          <a:p>
            <a:pPr algn="just">
              <a:spcBef>
                <a:spcPts val="0"/>
              </a:spcBef>
            </a:pPr>
            <a:endParaRPr lang="pt-BR" sz="9600" b="1" dirty="0"/>
          </a:p>
          <a:p>
            <a:pPr algn="just">
              <a:spcBef>
                <a:spcPts val="0"/>
              </a:spcBef>
            </a:pPr>
            <a:endParaRPr lang="pt-BR" sz="9600" b="1" dirty="0"/>
          </a:p>
          <a:p>
            <a:pPr algn="just"/>
            <a:endParaRPr lang="pt-BR" sz="9600" b="1" dirty="0"/>
          </a:p>
          <a:p>
            <a:pPr algn="just">
              <a:spcBef>
                <a:spcPts val="0"/>
              </a:spcBef>
            </a:pPr>
            <a:endParaRPr lang="pt-BR" sz="3600" b="1" dirty="0"/>
          </a:p>
          <a:p>
            <a:pPr algn="just">
              <a:spcBef>
                <a:spcPts val="0"/>
              </a:spcBef>
            </a:pPr>
            <a:r>
              <a:rPr lang="pt-BR" sz="6600" b="1" dirty="0"/>
              <a:t>CONCLUSÃO</a:t>
            </a:r>
            <a:endParaRPr lang="pt-BR" sz="9600" b="1" dirty="0"/>
          </a:p>
          <a:p>
            <a:pPr algn="just"/>
            <a:r>
              <a:rPr lang="pt-BR" sz="3200" dirty="0"/>
              <a:t>A implementação manual do algoritmo A* demonstrou ser uma solução eficaz para criar um comportamento de perseguição inteligente no jogo desenvolvido em Godot, permitindo que o inimigo navegasse pelo cenário, contornasse obstáculos e recalculasse seu caminho dinamicamente conforme a posição do jogador. A construção do sistema com listas Aberta e Fechada, heurística Manhattan e grade própria evidenciou como técnicas clássicas de Inteligência Artificial podem ser integradas de forma direta e transparente, sem depender de mecanismos internos da </a:t>
            </a:r>
            <a:r>
              <a:rPr lang="pt-BR" sz="3200" dirty="0" err="1"/>
              <a:t>engine</a:t>
            </a:r>
            <a:r>
              <a:rPr lang="pt-BR" sz="3200" dirty="0"/>
              <a:t>. A implementação manual comprovou a viabilidade de criar sistemas de navegação inteligentes sem depender de soluções “caixa-preta” da </a:t>
            </a:r>
            <a:r>
              <a:rPr lang="pt-BR" sz="3200" dirty="0" err="1"/>
              <a:t>engine</a:t>
            </a:r>
            <a:r>
              <a:rPr lang="pt-BR" sz="3200" dirty="0"/>
              <a:t>. O projeto reforça, assim, o potencial da Godot como ferramenta flexível e adequada para o desenvolvimento e a prototipagem de mecânicas baseadas em IA.</a:t>
            </a:r>
            <a:endParaRPr lang="pt-BR" sz="2800" dirty="0"/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0" y="0"/>
            <a:ext cx="32404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0" y="457200"/>
            <a:ext cx="32404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sp>
        <p:nvSpPr>
          <p:cNvPr id="17" name="Subtítulo 2"/>
          <p:cNvSpPr txBox="1">
            <a:spLocks/>
          </p:cNvSpPr>
          <p:nvPr/>
        </p:nvSpPr>
        <p:spPr>
          <a:xfrm>
            <a:off x="696254" y="38432525"/>
            <a:ext cx="30915483" cy="3979210"/>
          </a:xfrm>
          <a:prstGeom prst="rect">
            <a:avLst/>
          </a:prstGeom>
          <a:ln>
            <a:noFill/>
          </a:ln>
        </p:spPr>
        <p:txBody>
          <a:bodyPr vert="horz" lIns="432054" tIns="216027" rIns="432054" bIns="216027" rtlCol="0" anchor="t">
            <a:noAutofit/>
          </a:bodyPr>
          <a:lstStyle>
            <a:lvl1pPr marL="0" indent="0" algn="ctr" defTabSz="4320540" rtl="0" eaLnBrk="1" latinLnBrk="0" hangingPunct="1">
              <a:spcBef>
                <a:spcPct val="20000"/>
              </a:spcBef>
              <a:buFont typeface="Arial" pitchFamily="34" charset="0"/>
              <a:buNone/>
              <a:defRPr sz="15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160270" indent="0" algn="ctr" defTabSz="4320540" rtl="0" eaLnBrk="1" latinLnBrk="0" hangingPunct="1">
              <a:spcBef>
                <a:spcPct val="20000"/>
              </a:spcBef>
              <a:buFont typeface="Arial" pitchFamily="34" charset="0"/>
              <a:buNone/>
              <a:defRPr sz="1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320540" indent="0" algn="ctr" defTabSz="4320540" rtl="0" eaLnBrk="1" latinLnBrk="0" hangingPunct="1">
              <a:spcBef>
                <a:spcPct val="20000"/>
              </a:spcBef>
              <a:buFont typeface="Arial" pitchFamily="34" charset="0"/>
              <a:buNone/>
              <a:defRPr sz="113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6480810" indent="0" algn="ctr" defTabSz="4320540" rtl="0" eaLnBrk="1" latinLnBrk="0" hangingPunct="1">
              <a:spcBef>
                <a:spcPct val="20000"/>
              </a:spcBef>
              <a:buFont typeface="Arial" pitchFamily="34" charset="0"/>
              <a:buNone/>
              <a:defRPr sz="9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8641080" indent="0" algn="ctr" defTabSz="4320540" rtl="0" eaLnBrk="1" latinLnBrk="0" hangingPunct="1">
              <a:spcBef>
                <a:spcPct val="20000"/>
              </a:spcBef>
              <a:buFont typeface="Arial" pitchFamily="34" charset="0"/>
              <a:buNone/>
              <a:defRPr sz="9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0801350" indent="0" algn="ctr" defTabSz="4320540" rtl="0" eaLnBrk="1" latinLnBrk="0" hangingPunct="1">
              <a:spcBef>
                <a:spcPct val="20000"/>
              </a:spcBef>
              <a:buFont typeface="Arial" pitchFamily="34" charset="0"/>
              <a:buNone/>
              <a:defRPr sz="9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61620" indent="0" algn="ctr" defTabSz="4320540" rtl="0" eaLnBrk="1" latinLnBrk="0" hangingPunct="1">
              <a:spcBef>
                <a:spcPct val="20000"/>
              </a:spcBef>
              <a:buFont typeface="Arial" pitchFamily="34" charset="0"/>
              <a:buNone/>
              <a:defRPr sz="9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121890" indent="0" algn="ctr" defTabSz="4320540" rtl="0" eaLnBrk="1" latinLnBrk="0" hangingPunct="1">
              <a:spcBef>
                <a:spcPct val="20000"/>
              </a:spcBef>
              <a:buFont typeface="Arial" pitchFamily="34" charset="0"/>
              <a:buNone/>
              <a:defRPr sz="9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282160" indent="0" algn="ctr" defTabSz="4320540" rtl="0" eaLnBrk="1" latinLnBrk="0" hangingPunct="1">
              <a:spcBef>
                <a:spcPct val="20000"/>
              </a:spcBef>
              <a:buFont typeface="Arial" pitchFamily="34" charset="0"/>
              <a:buNone/>
              <a:defRPr sz="9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0"/>
              </a:spcBef>
            </a:pPr>
            <a:r>
              <a:rPr lang="pt-BR" sz="6600" b="1" dirty="0">
                <a:solidFill>
                  <a:schemeClr val="tx1"/>
                </a:solidFill>
              </a:rPr>
              <a:t>REFERÊNCIAS BIBLIOGRÁFICAS</a:t>
            </a:r>
          </a:p>
          <a:p>
            <a:pPr algn="just">
              <a:spcBef>
                <a:spcPts val="0"/>
              </a:spcBef>
            </a:pPr>
            <a:endParaRPr lang="pt-BR" sz="2800" b="1" dirty="0">
              <a:solidFill>
                <a:schemeClr val="tx1"/>
              </a:solidFill>
            </a:endParaRPr>
          </a:p>
          <a:p>
            <a:pPr marL="514350" indent="-514350" algn="just">
              <a:spcBef>
                <a:spcPts val="0"/>
              </a:spcBef>
              <a:buAutoNum type="arabicPeriod"/>
            </a:pPr>
            <a:r>
              <a:rPr lang="pt-BR" sz="3200" b="1" dirty="0">
                <a:solidFill>
                  <a:schemeClr val="tx1"/>
                </a:solidFill>
              </a:rPr>
              <a:t>GODOT </a:t>
            </a:r>
            <a:r>
              <a:rPr lang="pt-BR" sz="3200" b="1" dirty="0" err="1">
                <a:solidFill>
                  <a:schemeClr val="tx1"/>
                </a:solidFill>
              </a:rPr>
              <a:t>Engine</a:t>
            </a:r>
            <a:r>
              <a:rPr lang="pt-BR" sz="3200" b="1" dirty="0">
                <a:solidFill>
                  <a:schemeClr val="tx1"/>
                </a:solidFill>
              </a:rPr>
              <a:t>. </a:t>
            </a:r>
            <a:r>
              <a:rPr lang="pt-BR" sz="3200" b="1" dirty="0" err="1">
                <a:solidFill>
                  <a:schemeClr val="tx1"/>
                </a:solidFill>
              </a:rPr>
              <a:t>Godot</a:t>
            </a:r>
            <a:r>
              <a:rPr lang="pt-BR" sz="3200" b="1" dirty="0">
                <a:solidFill>
                  <a:schemeClr val="tx1"/>
                </a:solidFill>
              </a:rPr>
              <a:t> </a:t>
            </a:r>
            <a:r>
              <a:rPr lang="pt-BR" sz="3200" b="1" dirty="0" err="1">
                <a:solidFill>
                  <a:schemeClr val="tx1"/>
                </a:solidFill>
              </a:rPr>
              <a:t>Docs</a:t>
            </a:r>
            <a:r>
              <a:rPr lang="pt-BR" sz="3200" b="1" dirty="0">
                <a:solidFill>
                  <a:schemeClr val="tx1"/>
                </a:solidFill>
              </a:rPr>
              <a:t> – 4.5 </a:t>
            </a:r>
            <a:r>
              <a:rPr lang="pt-BR" sz="3200" b="1" dirty="0" err="1">
                <a:solidFill>
                  <a:schemeClr val="tx1"/>
                </a:solidFill>
              </a:rPr>
              <a:t>branch</a:t>
            </a:r>
            <a:r>
              <a:rPr lang="pt-BR" sz="3200" b="1" dirty="0">
                <a:solidFill>
                  <a:schemeClr val="tx1"/>
                </a:solidFill>
              </a:rPr>
              <a:t> — </a:t>
            </a:r>
            <a:r>
              <a:rPr lang="pt-BR" sz="3200" b="1" dirty="0" err="1">
                <a:solidFill>
                  <a:schemeClr val="tx1"/>
                </a:solidFill>
              </a:rPr>
              <a:t>Godot</a:t>
            </a:r>
            <a:r>
              <a:rPr lang="pt-BR" sz="3200" b="1" dirty="0">
                <a:solidFill>
                  <a:schemeClr val="tx1"/>
                </a:solidFill>
              </a:rPr>
              <a:t> </a:t>
            </a:r>
            <a:r>
              <a:rPr lang="pt-BR" sz="3200" b="1" dirty="0" err="1">
                <a:solidFill>
                  <a:schemeClr val="tx1"/>
                </a:solidFill>
              </a:rPr>
              <a:t>Engine</a:t>
            </a:r>
            <a:r>
              <a:rPr lang="pt-BR" sz="3200" b="1" dirty="0">
                <a:solidFill>
                  <a:schemeClr val="tx1"/>
                </a:solidFill>
              </a:rPr>
              <a:t> (</a:t>
            </a:r>
            <a:r>
              <a:rPr lang="pt-BR" sz="3200" b="1" dirty="0" err="1">
                <a:solidFill>
                  <a:schemeClr val="tx1"/>
                </a:solidFill>
              </a:rPr>
              <a:t>stable</a:t>
            </a:r>
            <a:r>
              <a:rPr lang="pt-BR" sz="3200" b="1" dirty="0">
                <a:solidFill>
                  <a:schemeClr val="tx1"/>
                </a:solidFill>
              </a:rPr>
              <a:t> </a:t>
            </a:r>
            <a:r>
              <a:rPr lang="pt-BR" sz="3200" b="1" dirty="0" err="1">
                <a:solidFill>
                  <a:schemeClr val="tx1"/>
                </a:solidFill>
              </a:rPr>
              <a:t>documentation</a:t>
            </a:r>
            <a:r>
              <a:rPr lang="pt-BR" sz="3200" b="1" dirty="0">
                <a:solidFill>
                  <a:schemeClr val="tx1"/>
                </a:solidFill>
              </a:rPr>
              <a:t> in </a:t>
            </a:r>
            <a:r>
              <a:rPr lang="pt-BR" sz="3200" b="1" dirty="0" err="1">
                <a:solidFill>
                  <a:schemeClr val="tx1"/>
                </a:solidFill>
              </a:rPr>
              <a:t>English</a:t>
            </a:r>
            <a:r>
              <a:rPr lang="pt-BR" sz="3200" b="1" dirty="0">
                <a:solidFill>
                  <a:schemeClr val="tx1"/>
                </a:solidFill>
              </a:rPr>
              <a:t>). Disponível em: https://docs.godotengine.org/</a:t>
            </a:r>
            <a:r>
              <a:rPr lang="pt-BR" sz="3200" b="1" dirty="0" err="1">
                <a:solidFill>
                  <a:schemeClr val="tx1"/>
                </a:solidFill>
              </a:rPr>
              <a:t>en</a:t>
            </a:r>
            <a:r>
              <a:rPr lang="pt-BR" sz="3200" b="1" dirty="0">
                <a:solidFill>
                  <a:schemeClr val="tx1"/>
                </a:solidFill>
              </a:rPr>
              <a:t>/</a:t>
            </a:r>
            <a:r>
              <a:rPr lang="pt-BR" sz="3200" b="1" dirty="0" err="1">
                <a:solidFill>
                  <a:schemeClr val="tx1"/>
                </a:solidFill>
              </a:rPr>
              <a:t>stable</a:t>
            </a:r>
            <a:r>
              <a:rPr lang="pt-BR" sz="3200" b="1" dirty="0">
                <a:solidFill>
                  <a:schemeClr val="tx1"/>
                </a:solidFill>
              </a:rPr>
              <a:t>/. Acesso em: 14 nov. 2025.</a:t>
            </a:r>
          </a:p>
          <a:p>
            <a:pPr marL="514350" indent="-514350" algn="just">
              <a:spcBef>
                <a:spcPts val="0"/>
              </a:spcBef>
              <a:buAutoNum type="arabicPeriod"/>
            </a:pPr>
            <a:r>
              <a:rPr lang="pt-BR" sz="3200" b="1" dirty="0" err="1">
                <a:solidFill>
                  <a:schemeClr val="tx1"/>
                </a:solidFill>
              </a:rPr>
              <a:t>Enemy</a:t>
            </a:r>
            <a:r>
              <a:rPr lang="pt-BR" sz="3200" b="1" dirty="0">
                <a:solidFill>
                  <a:schemeClr val="tx1"/>
                </a:solidFill>
              </a:rPr>
              <a:t> </a:t>
            </a:r>
            <a:r>
              <a:rPr lang="pt-BR" sz="3200" b="1" dirty="0" err="1">
                <a:solidFill>
                  <a:schemeClr val="tx1"/>
                </a:solidFill>
              </a:rPr>
              <a:t>Pathfinding</a:t>
            </a:r>
            <a:r>
              <a:rPr lang="pt-BR" sz="3200" b="1" dirty="0">
                <a:solidFill>
                  <a:schemeClr val="tx1"/>
                </a:solidFill>
              </a:rPr>
              <a:t> AI in </a:t>
            </a:r>
            <a:r>
              <a:rPr lang="pt-BR" sz="3200" b="1" dirty="0" err="1">
                <a:solidFill>
                  <a:schemeClr val="tx1"/>
                </a:solidFill>
              </a:rPr>
              <a:t>Godot</a:t>
            </a:r>
            <a:r>
              <a:rPr lang="pt-BR" sz="3200" b="1" dirty="0">
                <a:solidFill>
                  <a:schemeClr val="tx1"/>
                </a:solidFill>
              </a:rPr>
              <a:t> 4. [vídeo]. YouTube, 10 nov. 2023. Disponível em: https://www.youtube.com/</a:t>
            </a:r>
            <a:r>
              <a:rPr lang="pt-BR" sz="3200" b="1" dirty="0" err="1">
                <a:solidFill>
                  <a:schemeClr val="tx1"/>
                </a:solidFill>
              </a:rPr>
              <a:t>watch?v</a:t>
            </a:r>
            <a:r>
              <a:rPr lang="pt-BR" sz="3200" b="1" dirty="0">
                <a:solidFill>
                  <a:schemeClr val="tx1"/>
                </a:solidFill>
              </a:rPr>
              <a:t>=</a:t>
            </a:r>
            <a:r>
              <a:rPr lang="pt-BR" sz="3200" b="1" dirty="0" err="1">
                <a:solidFill>
                  <a:schemeClr val="tx1"/>
                </a:solidFill>
              </a:rPr>
              <a:t>OZCApGqUHGU</a:t>
            </a:r>
            <a:r>
              <a:rPr lang="pt-BR" sz="3200" b="1" dirty="0">
                <a:solidFill>
                  <a:schemeClr val="tx1"/>
                </a:solidFill>
              </a:rPr>
              <a:t>. Acesso em: 14 nov. 2025.</a:t>
            </a:r>
            <a:endParaRPr lang="pt-BR" sz="3200" dirty="0">
              <a:solidFill>
                <a:schemeClr val="tx1"/>
              </a:solidFill>
              <a:ea typeface="Calibri"/>
              <a:cs typeface="Calibri"/>
            </a:endParaRPr>
          </a:p>
        </p:txBody>
      </p:sp>
      <p:pic>
        <p:nvPicPr>
          <p:cNvPr id="7" name="Imagem 6" descr="Diagrama&#10;&#10;O conteúdo gerado por IA pode estar incorreto.">
            <a:extLst>
              <a:ext uri="{FF2B5EF4-FFF2-40B4-BE49-F238E27FC236}">
                <a16:creationId xmlns:a16="http://schemas.microsoft.com/office/drawing/2014/main" id="{DE0425B4-4BBE-4119-F4E3-54908A6972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91884" y="692779"/>
            <a:ext cx="7724775" cy="3553028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16012876-1C84-8DE5-9B13-5905E424B1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034" y="1299271"/>
            <a:ext cx="10612836" cy="2368923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F9BCFD68-88E6-30A6-64CF-E24C1DDD8B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78262" y="13806403"/>
            <a:ext cx="12882004" cy="7205871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0EBB5D6C-B1CA-E321-E102-CBE320EA9B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578262" y="23221561"/>
            <a:ext cx="12936206" cy="72058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</TotalTime>
  <Words>817</Words>
  <Application>Microsoft Office PowerPoint</Application>
  <PresentationFormat>Personalizar</PresentationFormat>
  <Paragraphs>33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4" baseType="lpstr">
      <vt:lpstr>Arial</vt:lpstr>
      <vt:lpstr>Calibri</vt:lpstr>
      <vt:lpstr>Tema do Office</vt:lpstr>
      <vt:lpstr>IMPLEMENTAÇÃO DE IA EM JOGOS  Helder de Sena Ferreira Meyer; Mateus Maia Ferreira; Pedro Vitor Cordeiro Pompeu; Ruan Diego de Farias Couto da Silva; Adailton de Jesus Cerqueira Junior.  Universidade Salvador – Salvador – BA – Brasil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IMPLEMENTAÇÃO DE IA EM JOGOS  Helder de Sena Ferreira Meyer; Mateus Maia Ferreira; Pedro Vitor Cordeiro Pompeu; Ruan Diego de Farias Couto da Silva; Adailton de Jesus Cerqueira Junior.  Universidade Salvador – Salvador – BA – Brasil </dc:title>
  <cp:lastModifiedBy>Amanda Duarte</cp:lastModifiedBy>
  <cp:revision>5</cp:revision>
  <dcterms:modified xsi:type="dcterms:W3CDTF">2025-11-20T22:55:05Z</dcterms:modified>
</cp:coreProperties>
</file>